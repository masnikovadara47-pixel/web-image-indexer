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6" r:id="rId11"/>
    <p:sldId id="263" r:id="rId12"/>
    <p:sldId id="268" r:id="rId13"/>
  </p:sldIdLst>
  <p:sldSz cx="9144000" cy="5143500" type="screen16x9"/>
  <p:notesSz cx="8229600" cy="14630400"/>
  <p:embeddedFontLst>
    <p:embeddedFont>
      <p:font typeface="Bahnschrift SemiBold SemiConden" panose="020B0502040204020203" pitchFamily="34" charset="0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AFD"/>
    <a:srgbClr val="EEEEEE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4" d="100"/>
          <a:sy n="44" d="100"/>
        </p:scale>
        <p:origin x="3437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81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9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2543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004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519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09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17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9716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509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416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0027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6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509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40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969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432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822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042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145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421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824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9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DAECB-7872-3D0D-35C3-58536A95EDC9}"/>
              </a:ext>
            </a:extLst>
          </p:cNvPr>
          <p:cNvSpPr txBox="1"/>
          <p:nvPr/>
        </p:nvSpPr>
        <p:spPr>
          <a:xfrm>
            <a:off x="1399429" y="259225"/>
            <a:ext cx="67983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400" b="0" strike="noStrike" spc="-1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</a:t>
            </a:r>
          </a:p>
          <a:p>
            <a:pPr algn="ctr" defTabSz="914400">
              <a:lnSpc>
                <a:spcPct val="100000"/>
              </a:lnSpc>
            </a:pPr>
            <a:r>
              <a:rPr lang="ru-RU" sz="1400" b="0" strike="noStrike" spc="-1" dirty="0">
                <a:latin typeface="Arial" panose="020B0604020202020204" pitchFamily="34" charset="0"/>
                <a:cs typeface="Arial" panose="020B0604020202020204" pitchFamily="34" charset="0"/>
              </a:rPr>
              <a:t> (ГБПОУ МО "Физтех-колледж")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9AB5E-4A25-7D9F-309E-276838B492A6}"/>
              </a:ext>
            </a:extLst>
          </p:cNvPr>
          <p:cNvSpPr txBox="1"/>
          <p:nvPr/>
        </p:nvSpPr>
        <p:spPr>
          <a:xfrm>
            <a:off x="1427259" y="1773141"/>
            <a:ext cx="62894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Веб-индексатор для сбора, обработки, сохранения ссылок и изображений с веб-сайтов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EF3E1-B2FE-4E13-0C1C-4E39FD550B4F}"/>
              </a:ext>
            </a:extLst>
          </p:cNvPr>
          <p:cNvSpPr txBox="1"/>
          <p:nvPr/>
        </p:nvSpPr>
        <p:spPr>
          <a:xfrm>
            <a:off x="6194067" y="3497632"/>
            <a:ext cx="26477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Выполнила студентка группы ИСП-42:</a:t>
            </a:r>
            <a:b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Мясникова Дарья Евгеньевна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A7975-9E06-BAE7-504F-1ED8BB8A9AEF}"/>
              </a:ext>
            </a:extLst>
          </p:cNvPr>
          <p:cNvSpPr txBox="1"/>
          <p:nvPr/>
        </p:nvSpPr>
        <p:spPr>
          <a:xfrm>
            <a:off x="6194067" y="4164918"/>
            <a:ext cx="2775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  <a:b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Базяк Галина Владимировна</a:t>
            </a:r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A9D8C181-7C51-AD85-6173-BCEEC815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24012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4943" y="1700417"/>
            <a:ext cx="2351632" cy="2351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630" y="373702"/>
            <a:ext cx="7286739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469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Автоматический сборщик изображений и ссылок</a:t>
            </a:r>
            <a:endParaRPr lang="en-US" sz="2800" b="1" dirty="0"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50337" y="2295800"/>
            <a:ext cx="5386522" cy="164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В интернете миллионы изображений, и собирать их вручную — долго. Это десктопное приложение само находит все ссылки и картинки на любом сайте за минуты.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14364" y="366675"/>
            <a:ext cx="37152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Что ум</a:t>
            </a:r>
            <a:r>
              <a:rPr lang="ru-RU" sz="2800" b="1" dirty="0">
                <a:ea typeface="Mona Sans Semi Bold" pitchFamily="34" charset="-122"/>
                <a:cs typeface="Arial" panose="020B0604020202020204" pitchFamily="34" charset="0"/>
              </a:rPr>
              <a:t>ее</a:t>
            </a: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т программа</a:t>
            </a:r>
            <a:r>
              <a:rPr lang="ru-RU" sz="2800" b="1" dirty="0">
                <a:ea typeface="Mona Sans Semi Bold" pitchFamily="34" charset="-122"/>
                <a:cs typeface="Arial" panose="020B0604020202020204" pitchFamily="34" charset="0"/>
              </a:rPr>
              <a:t>?</a:t>
            </a:r>
            <a:endParaRPr lang="en-US" sz="2800" b="1" dirty="0"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164134"/>
            <a:ext cx="4004965" cy="1620218"/>
          </a:xfrm>
          <a:prstGeom prst="roundRect">
            <a:avLst>
              <a:gd name="adj" fmla="val 3675"/>
            </a:avLst>
          </a:prstGeom>
          <a:solidFill>
            <a:srgbClr val="F0F0F0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42640" y="1310655"/>
            <a:ext cx="425276" cy="425276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427559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77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Индексация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2640" y="2184202"/>
            <a:ext cx="37119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4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Находит все ссылки и изображения на странице автоматически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42843" y="1164134"/>
            <a:ext cx="4005039" cy="1620218"/>
          </a:xfrm>
          <a:prstGeom prst="roundRect">
            <a:avLst>
              <a:gd name="adj" fmla="val 3675"/>
            </a:avLst>
          </a:prstGeom>
          <a:solidFill>
            <a:srgbClr val="EEEEEE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4789364" y="1310655"/>
            <a:ext cx="425276" cy="425276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6342" y="1427559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4" y="1877690"/>
            <a:ext cx="2211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Преобразование адресов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89364" y="2184202"/>
            <a:ext cx="315336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4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Относительные пути превращаются</a:t>
            </a:r>
            <a:br>
              <a:rPr lang="ru-RU" sz="14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в полные URL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6119" y="2926110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F0F0F0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642640" y="3072631"/>
            <a:ext cx="425276" cy="425276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189536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6396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dirty="0" err="1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Массовая</a:t>
            </a:r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загрузка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42640" y="3946178"/>
            <a:ext cx="37119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4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Скачивает все картинки одним нажатием кнопки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42843" y="2926110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EEEEEE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4789364" y="3072631"/>
            <a:ext cx="425276" cy="425276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6342" y="3189536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4" y="36396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Сохранение ссылок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789364" y="394617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4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Экспортирует список ссылок в файл формата .txt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78" y="1535571"/>
            <a:ext cx="2438400" cy="2438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56569" y="363289"/>
            <a:ext cx="3430861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125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Технологический стек</a:t>
            </a:r>
            <a:endParaRPr lang="en-US" sz="2800" b="1" dirty="0"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95065" y="1016347"/>
            <a:ext cx="5046318" cy="935757"/>
          </a:xfrm>
          <a:prstGeom prst="roundRect">
            <a:avLst>
              <a:gd name="adj" fmla="val 7329"/>
            </a:avLst>
          </a:prstGeom>
          <a:solidFill>
            <a:srgbClr val="F0F0F0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595065" y="1006376"/>
            <a:ext cx="57150" cy="935757"/>
          </a:xfrm>
          <a:prstGeom prst="roundRect">
            <a:avLst>
              <a:gd name="adj" fmla="val 93456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122533E-5FE1-846C-5A3E-B39A8945B095}"/>
              </a:ext>
            </a:extLst>
          </p:cNvPr>
          <p:cNvGrpSpPr/>
          <p:nvPr/>
        </p:nvGrpSpPr>
        <p:grpSpPr>
          <a:xfrm>
            <a:off x="770722" y="1156692"/>
            <a:ext cx="4499223" cy="656242"/>
            <a:chOff x="770722" y="1156692"/>
            <a:chExt cx="4499223" cy="656242"/>
          </a:xfrm>
        </p:grpSpPr>
        <p:sp>
          <p:nvSpPr>
            <p:cNvPr id="7" name="Text 4"/>
            <p:cNvSpPr/>
            <p:nvPr/>
          </p:nvSpPr>
          <p:spPr>
            <a:xfrm>
              <a:off x="770722" y="1156692"/>
              <a:ext cx="1589559" cy="198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Python</a:t>
              </a:r>
              <a:r>
                <a:rPr lang="en-US" sz="2000" dirty="0">
                  <a:solidFill>
                    <a:srgbClr val="52586B"/>
                  </a:solidFill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 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770722" y="1427023"/>
              <a:ext cx="4499223" cy="385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Идеальный язык для парсинга: лаконичный синтаксис и богатая экосистема библиотек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Shape 6"/>
          <p:cNvSpPr/>
          <p:nvPr/>
        </p:nvSpPr>
        <p:spPr>
          <a:xfrm>
            <a:off x="598259" y="2056135"/>
            <a:ext cx="5043124" cy="742801"/>
          </a:xfrm>
          <a:prstGeom prst="roundRect">
            <a:avLst>
              <a:gd name="adj" fmla="val 9233"/>
            </a:avLst>
          </a:prstGeom>
          <a:solidFill>
            <a:srgbClr val="EEEEEE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89857" y="2056135"/>
            <a:ext cx="57150" cy="742801"/>
          </a:xfrm>
          <a:prstGeom prst="roundRect">
            <a:avLst>
              <a:gd name="adj" fmla="val 93456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A7EA67E2-BEDF-7ADE-6EAF-0C0606E4D682}"/>
              </a:ext>
            </a:extLst>
          </p:cNvPr>
          <p:cNvGrpSpPr/>
          <p:nvPr/>
        </p:nvGrpSpPr>
        <p:grpSpPr>
          <a:xfrm>
            <a:off x="770722" y="2163993"/>
            <a:ext cx="4499223" cy="493557"/>
            <a:chOff x="770722" y="2163993"/>
            <a:chExt cx="4499223" cy="493557"/>
          </a:xfrm>
        </p:grpSpPr>
        <p:sp>
          <p:nvSpPr>
            <p:cNvPr id="11" name="Text 8"/>
            <p:cNvSpPr/>
            <p:nvPr/>
          </p:nvSpPr>
          <p:spPr>
            <a:xfrm>
              <a:off x="770722" y="2163993"/>
              <a:ext cx="1589559" cy="198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Requests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770722" y="2464594"/>
              <a:ext cx="4499223" cy="1929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HTTP-запросы к серверам — загружает содержимое страниц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Shape 10"/>
          <p:cNvSpPr/>
          <p:nvPr/>
        </p:nvSpPr>
        <p:spPr>
          <a:xfrm>
            <a:off x="610037" y="2912939"/>
            <a:ext cx="5031346" cy="742801"/>
          </a:xfrm>
          <a:prstGeom prst="roundRect">
            <a:avLst>
              <a:gd name="adj" fmla="val 9233"/>
            </a:avLst>
          </a:prstGeom>
          <a:solidFill>
            <a:srgbClr val="F0F0F0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589861" y="2912939"/>
            <a:ext cx="57150" cy="742801"/>
          </a:xfrm>
          <a:prstGeom prst="roundRect">
            <a:avLst>
              <a:gd name="adj" fmla="val 93456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626FF54D-D8F9-A754-5D59-77D611CA0DDB}"/>
              </a:ext>
            </a:extLst>
          </p:cNvPr>
          <p:cNvGrpSpPr/>
          <p:nvPr/>
        </p:nvGrpSpPr>
        <p:grpSpPr>
          <a:xfrm>
            <a:off x="770721" y="3066008"/>
            <a:ext cx="4499224" cy="448233"/>
            <a:chOff x="770721" y="3066008"/>
            <a:chExt cx="4499224" cy="448233"/>
          </a:xfrm>
        </p:grpSpPr>
        <p:sp>
          <p:nvSpPr>
            <p:cNvPr id="15" name="Text 12"/>
            <p:cNvSpPr/>
            <p:nvPr/>
          </p:nvSpPr>
          <p:spPr>
            <a:xfrm>
              <a:off x="770721" y="3066008"/>
              <a:ext cx="1589559" cy="198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BeautifulSoup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770722" y="3321285"/>
              <a:ext cx="4499223" cy="1929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Разбирает HTML и извлекает нужные теги и атрибуты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Shape 14"/>
          <p:cNvSpPr/>
          <p:nvPr/>
        </p:nvSpPr>
        <p:spPr>
          <a:xfrm>
            <a:off x="621821" y="3769742"/>
            <a:ext cx="5019562" cy="935757"/>
          </a:xfrm>
          <a:prstGeom prst="roundRect">
            <a:avLst>
              <a:gd name="adj" fmla="val 7329"/>
            </a:avLst>
          </a:prstGeom>
          <a:solidFill>
            <a:srgbClr val="EEEEEE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589859" y="3770690"/>
            <a:ext cx="57150" cy="935757"/>
          </a:xfrm>
          <a:prstGeom prst="roundRect">
            <a:avLst>
              <a:gd name="adj" fmla="val 93456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ru-RU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BECCDD45-7E70-DF1F-924E-A9E014E8F679}"/>
              </a:ext>
            </a:extLst>
          </p:cNvPr>
          <p:cNvGrpSpPr/>
          <p:nvPr/>
        </p:nvGrpSpPr>
        <p:grpSpPr>
          <a:xfrm>
            <a:off x="770722" y="3933365"/>
            <a:ext cx="4499223" cy="630747"/>
            <a:chOff x="770722" y="3933365"/>
            <a:chExt cx="4499223" cy="630747"/>
          </a:xfrm>
        </p:grpSpPr>
        <p:sp>
          <p:nvSpPr>
            <p:cNvPr id="19" name="Text 16"/>
            <p:cNvSpPr/>
            <p:nvPr/>
          </p:nvSpPr>
          <p:spPr>
            <a:xfrm>
              <a:off x="770722" y="3933365"/>
              <a:ext cx="1589559" cy="198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Tkinter + threading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770722" y="4178201"/>
              <a:ext cx="4499223" cy="385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Графический интерфейс и многопоточность — окно не зависает во время работы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9"/>
          <p:cNvSpPr/>
          <p:nvPr/>
        </p:nvSpPr>
        <p:spPr>
          <a:xfrm>
            <a:off x="4720958" y="2157762"/>
            <a:ext cx="4795503" cy="164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A7D32F11-0FDC-B0D4-9392-D7BB3899FA02}"/>
              </a:ext>
            </a:extLst>
          </p:cNvPr>
          <p:cNvGrpSpPr/>
          <p:nvPr/>
        </p:nvGrpSpPr>
        <p:grpSpPr>
          <a:xfrm>
            <a:off x="378965" y="3903588"/>
            <a:ext cx="1979689" cy="510438"/>
            <a:chOff x="3582444" y="93945"/>
            <a:chExt cx="1960323" cy="482252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6346A459-0423-6642-7488-CD630C52B263}"/>
                </a:ext>
              </a:extLst>
            </p:cNvPr>
            <p:cNvSpPr/>
            <p:nvPr/>
          </p:nvSpPr>
          <p:spPr>
            <a:xfrm>
              <a:off x="3582444" y="93945"/>
              <a:ext cx="1960323" cy="48225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02FD79-318D-08C4-5B27-2AD88F01BE8C}"/>
                </a:ext>
              </a:extLst>
            </p:cNvPr>
            <p:cNvSpPr txBox="1"/>
            <p:nvPr/>
          </p:nvSpPr>
          <p:spPr>
            <a:xfrm>
              <a:off x="3832964" y="133180"/>
              <a:ext cx="1603331" cy="435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Пользователь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C1E53B0-659B-70DC-93C0-FBBA2D216BE4}"/>
              </a:ext>
            </a:extLst>
          </p:cNvPr>
          <p:cNvGrpSpPr/>
          <p:nvPr/>
        </p:nvGrpSpPr>
        <p:grpSpPr>
          <a:xfrm>
            <a:off x="271474" y="1284749"/>
            <a:ext cx="2144030" cy="1607434"/>
            <a:chOff x="1239539" y="968090"/>
            <a:chExt cx="2144030" cy="1607434"/>
          </a:xfrm>
        </p:grpSpPr>
        <p:sp>
          <p:nvSpPr>
            <p:cNvPr id="11" name="Text 8"/>
            <p:cNvSpPr/>
            <p:nvPr/>
          </p:nvSpPr>
          <p:spPr>
            <a:xfrm>
              <a:off x="1239539" y="1440579"/>
              <a:ext cx="1802365" cy="570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3B74F275-36A4-061E-927E-5E6E3D3C5434}"/>
                </a:ext>
              </a:extLst>
            </p:cNvPr>
            <p:cNvGrpSpPr/>
            <p:nvPr/>
          </p:nvGrpSpPr>
          <p:grpSpPr>
            <a:xfrm>
              <a:off x="1290181" y="968090"/>
              <a:ext cx="2093388" cy="1292662"/>
              <a:chOff x="1290181" y="968090"/>
              <a:chExt cx="2093388" cy="1292662"/>
            </a:xfrm>
          </p:grpSpPr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2059F6F9-23CE-1399-F8FB-451CE51483BA}"/>
                  </a:ext>
                </a:extLst>
              </p:cNvPr>
              <p:cNvSpPr/>
              <p:nvPr/>
            </p:nvSpPr>
            <p:spPr>
              <a:xfrm>
                <a:off x="1290181" y="968090"/>
                <a:ext cx="2093388" cy="1292662"/>
              </a:xfrm>
              <a:prstGeom prst="rect">
                <a:avLst/>
              </a:prstGeom>
              <a:solidFill>
                <a:srgbClr val="EEEE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033BB-3C57-84EB-2168-717863A999D4}"/>
                  </a:ext>
                </a:extLst>
              </p:cNvPr>
              <p:cNvSpPr txBox="1"/>
              <p:nvPr/>
            </p:nvSpPr>
            <p:spPr>
              <a:xfrm>
                <a:off x="1741888" y="1015118"/>
                <a:ext cx="1189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Bahnschrift SemiBold SemiConden" panose="020B0502040204020203" pitchFamily="34" charset="0"/>
                    <a:ea typeface="Artifakt Element Hair" panose="020B0203050000020004" pitchFamily="34" charset="-52"/>
                    <a:cs typeface="Arial Unicode MS" panose="020B0604020202020204" pitchFamily="34" charset="-128"/>
                  </a:rPr>
                  <a:t>VIEW (</a:t>
                </a:r>
                <a:r>
                  <a:rPr lang="en-US" sz="1200" dirty="0" err="1">
                    <a:latin typeface="Bahnschrift SemiBold SemiConden" panose="020B0502040204020203" pitchFamily="34" charset="0"/>
                    <a:ea typeface="Artifakt Element Hair" panose="020B0203050000020004" pitchFamily="34" charset="-52"/>
                    <a:cs typeface="Arial Unicode MS" panose="020B0604020202020204" pitchFamily="34" charset="-128"/>
                  </a:rPr>
                  <a:t>Tkinter</a:t>
                </a:r>
                <a:r>
                  <a:rPr lang="en-US" sz="1200" dirty="0">
                    <a:latin typeface="Bahnschrift SemiBold SemiConden" panose="020B0502040204020203" pitchFamily="34" charset="0"/>
                    <a:ea typeface="Artifakt Element Hair" panose="020B0203050000020004" pitchFamily="34" charset="-52"/>
                    <a:cs typeface="Arial Unicode MS" panose="020B0604020202020204" pitchFamily="34" charset="-128"/>
                  </a:rPr>
                  <a:t>)</a:t>
                </a:r>
                <a:endParaRPr lang="ru-RU" sz="1200" dirty="0">
                  <a:latin typeface="Bahnschrift SemiBold SemiConden" panose="020B0502040204020203" pitchFamily="34" charset="0"/>
                  <a:ea typeface="Artifakt Element Hair" panose="020B0203050000020004" pitchFamily="34" charset="-52"/>
                  <a:cs typeface="Arial Unicode MS" panose="020B0604020202020204" pitchFamily="34" charset="-128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F3D916-68D1-96C0-9E3D-BCEB40A1B820}"/>
                </a:ext>
              </a:extLst>
            </p:cNvPr>
            <p:cNvSpPr txBox="1"/>
            <p:nvPr/>
          </p:nvSpPr>
          <p:spPr>
            <a:xfrm>
              <a:off x="2010471" y="1282862"/>
              <a:ext cx="74528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1200" dirty="0"/>
                <a:t>Поля</a:t>
              </a:r>
            </a:p>
            <a:p>
              <a:pPr>
                <a:lnSpc>
                  <a:spcPct val="150000"/>
                </a:lnSpc>
              </a:pPr>
              <a:r>
                <a:rPr lang="ru-RU" sz="1200" dirty="0"/>
                <a:t>Кнопки</a:t>
              </a:r>
            </a:p>
            <a:p>
              <a:pPr>
                <a:lnSpc>
                  <a:spcPct val="150000"/>
                </a:lnSpc>
              </a:pPr>
              <a:r>
                <a:rPr lang="ru-RU" sz="1200" dirty="0"/>
                <a:t>Лог</a:t>
              </a:r>
            </a:p>
            <a:p>
              <a:endParaRPr lang="ru-RU" sz="1200" dirty="0"/>
            </a:p>
            <a:p>
              <a:endParaRPr lang="ru-RU" sz="1200" dirty="0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C4CB9E3-D244-5455-C166-60AB64689AEC}"/>
              </a:ext>
            </a:extLst>
          </p:cNvPr>
          <p:cNvGrpSpPr/>
          <p:nvPr/>
        </p:nvGrpSpPr>
        <p:grpSpPr>
          <a:xfrm>
            <a:off x="3067302" y="1284749"/>
            <a:ext cx="3272475" cy="2017693"/>
            <a:chOff x="1078991" y="2982595"/>
            <a:chExt cx="3272475" cy="2017693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71FAFA98-3132-1CA8-429E-BAA8C15AE462}"/>
                </a:ext>
              </a:extLst>
            </p:cNvPr>
            <p:cNvSpPr/>
            <p:nvPr/>
          </p:nvSpPr>
          <p:spPr>
            <a:xfrm>
              <a:off x="1078991" y="2982595"/>
              <a:ext cx="2446551" cy="1289901"/>
            </a:xfrm>
            <a:prstGeom prst="rect">
              <a:avLst/>
            </a:prstGeom>
            <a:solidFill>
              <a:srgbClr val="EEEEE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1"/>
              <a:endParaRPr lang="en-US" sz="1200" dirty="0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2370E89-F6B0-580D-6E7D-9209270B4887}"/>
                </a:ext>
              </a:extLst>
            </p:cNvPr>
            <p:cNvSpPr txBox="1"/>
            <p:nvPr/>
          </p:nvSpPr>
          <p:spPr>
            <a:xfrm>
              <a:off x="1502685" y="3029623"/>
              <a:ext cx="284878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latin typeface="Bahnschrift SemiBold SemiConden" panose="020B0502040204020203" pitchFamily="34" charset="0"/>
                </a:rPr>
                <a:t>  </a:t>
              </a:r>
              <a:r>
                <a:rPr lang="en-US" sz="1200" dirty="0">
                  <a:latin typeface="Bahnschrift SemiBold SemiConden" panose="020B0502040204020203" pitchFamily="34" charset="0"/>
                </a:rPr>
                <a:t>CONTROLLER (</a:t>
              </a:r>
              <a:r>
                <a:rPr lang="ru-RU" sz="1200" dirty="0">
                  <a:latin typeface="Bahnschrift SemiBold SemiConden" panose="020B0502040204020203" pitchFamily="34" charset="0"/>
                </a:rPr>
                <a:t>потоки</a:t>
              </a:r>
              <a:r>
                <a:rPr lang="en-US" sz="1200" dirty="0">
                  <a:latin typeface="Bahnschrift SemiBold SemiConden" panose="020B0502040204020203" pitchFamily="34" charset="0"/>
                </a:rPr>
                <a:t>)</a:t>
              </a:r>
            </a:p>
            <a:p>
              <a:endParaRPr lang="ru-RU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3AA7E4-6317-0399-C2DD-BA221E993592}"/>
                </a:ext>
              </a:extLst>
            </p:cNvPr>
            <p:cNvSpPr txBox="1"/>
            <p:nvPr/>
          </p:nvSpPr>
          <p:spPr>
            <a:xfrm>
              <a:off x="1183598" y="3245962"/>
              <a:ext cx="228600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200" dirty="0"/>
                <a:t>Запуск фоновых потоков </a:t>
              </a:r>
            </a:p>
            <a:p>
              <a:pPr algn="ctr">
                <a:lnSpc>
                  <a:spcPct val="150000"/>
                </a:lnSpc>
              </a:pPr>
              <a:r>
                <a:rPr lang="ru-RU" sz="1200" dirty="0"/>
                <a:t>Управление состоянием кнопок</a:t>
              </a:r>
            </a:p>
            <a:p>
              <a:pPr algn="ctr">
                <a:lnSpc>
                  <a:spcPct val="150000"/>
                </a:lnSpc>
              </a:pPr>
              <a:r>
                <a:rPr lang="ru-RU" sz="1200" dirty="0"/>
                <a:t>Обновления интерфейса</a:t>
              </a:r>
            </a:p>
            <a:p>
              <a:endParaRPr lang="ru-RU" sz="1200" dirty="0"/>
            </a:p>
            <a:p>
              <a:endParaRPr lang="ru-RU" sz="1200" dirty="0"/>
            </a:p>
            <a:p>
              <a:endParaRPr lang="ru-RU" sz="1200" dirty="0"/>
            </a:p>
            <a:p>
              <a:endParaRPr lang="ru-RU" dirty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10347C2-EF7F-99A7-C237-D0F61CEEC843}"/>
              </a:ext>
            </a:extLst>
          </p:cNvPr>
          <p:cNvGrpSpPr/>
          <p:nvPr/>
        </p:nvGrpSpPr>
        <p:grpSpPr>
          <a:xfrm>
            <a:off x="5725330" y="981564"/>
            <a:ext cx="3969381" cy="1595847"/>
            <a:chOff x="4730353" y="2082999"/>
            <a:chExt cx="3969381" cy="1595847"/>
          </a:xfrm>
        </p:grpSpPr>
        <p:sp>
          <p:nvSpPr>
            <p:cNvPr id="10" name="Text 7"/>
            <p:cNvSpPr/>
            <p:nvPr/>
          </p:nvSpPr>
          <p:spPr>
            <a:xfrm>
              <a:off x="4730353" y="2082999"/>
              <a:ext cx="1736676" cy="196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31"/>
                </a:lnSpc>
              </a:pPr>
              <a:endParaRPr lang="en-US" sz="1219" dirty="0"/>
            </a:p>
          </p:txBody>
        </p: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A45FF1EA-EA6E-37C9-9091-E8CD558BD748}"/>
                </a:ext>
              </a:extLst>
            </p:cNvPr>
            <p:cNvGrpSpPr/>
            <p:nvPr/>
          </p:nvGrpSpPr>
          <p:grpSpPr>
            <a:xfrm>
              <a:off x="5199887" y="2386184"/>
              <a:ext cx="2951110" cy="1292662"/>
              <a:chOff x="4356296" y="465292"/>
              <a:chExt cx="5117774" cy="1292662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200CF4CD-B80C-0B17-C035-2930602DBF45}"/>
                  </a:ext>
                </a:extLst>
              </p:cNvPr>
              <p:cNvSpPr/>
              <p:nvPr/>
            </p:nvSpPr>
            <p:spPr>
              <a:xfrm>
                <a:off x="4356296" y="465292"/>
                <a:ext cx="4270532" cy="1292662"/>
              </a:xfrm>
              <a:prstGeom prst="rect">
                <a:avLst/>
              </a:prstGeom>
              <a:solidFill>
                <a:srgbClr val="EEEE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804D4C-2E20-B82C-CBB5-28DB0036DBA9}"/>
                  </a:ext>
                </a:extLst>
              </p:cNvPr>
              <p:cNvSpPr txBox="1"/>
              <p:nvPr/>
            </p:nvSpPr>
            <p:spPr>
              <a:xfrm>
                <a:off x="4697424" y="530569"/>
                <a:ext cx="477664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Bahnschrift SemiBold SemiConden" panose="020B0502040204020203" pitchFamily="34" charset="0"/>
                  </a:rPr>
                  <a:t>MODEL (</a:t>
                </a:r>
                <a:r>
                  <a:rPr lang="ru-RU" sz="1200" dirty="0">
                    <a:latin typeface="Bahnschrift SemiBold SemiConden" panose="020B0502040204020203" pitchFamily="34" charset="0"/>
                  </a:rPr>
                  <a:t>Движок сбора данных)</a:t>
                </a:r>
              </a:p>
              <a:p>
                <a:endParaRPr lang="ru-RU" dirty="0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0DCB4D0-8978-B583-1F3A-7CD38BE34A45}"/>
                </a:ext>
              </a:extLst>
            </p:cNvPr>
            <p:cNvSpPr txBox="1"/>
            <p:nvPr/>
          </p:nvSpPr>
          <p:spPr>
            <a:xfrm>
              <a:off x="5353930" y="2894015"/>
              <a:ext cx="3345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Сохранение ссылок и картинок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840D71-1DEC-50F0-60C1-C9787A15E8C0}"/>
              </a:ext>
            </a:extLst>
          </p:cNvPr>
          <p:cNvSpPr txBox="1"/>
          <p:nvPr/>
        </p:nvSpPr>
        <p:spPr>
          <a:xfrm>
            <a:off x="1162172" y="230475"/>
            <a:ext cx="6819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Архитектура </a:t>
            </a:r>
            <a:r>
              <a:rPr lang="en-US" sz="2800" b="1" dirty="0"/>
              <a:t>Model-View-Controller (MVC)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ACED0-1F9B-8067-2C03-040B2CCF6C87}"/>
              </a:ext>
            </a:extLst>
          </p:cNvPr>
          <p:cNvSpPr txBox="1"/>
          <p:nvPr/>
        </p:nvSpPr>
        <p:spPr>
          <a:xfrm>
            <a:off x="2732784" y="3680607"/>
            <a:ext cx="672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SemiConden" panose="020B0502040204020203" pitchFamily="34" charset="0"/>
              </a:rPr>
              <a:t>Пользователь может выполнить 6 сценариев: индексация сайта, сохранение ссылок, скачивание изображений, выбор папки, вставка URL из буфера и отслеживание ошибок через лог.</a:t>
            </a:r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9D6C5899-E82B-F49A-898A-44B991F8A7D4}"/>
              </a:ext>
            </a:extLst>
          </p:cNvPr>
          <p:cNvSpPr/>
          <p:nvPr/>
        </p:nvSpPr>
        <p:spPr>
          <a:xfrm rot="16200000">
            <a:off x="688628" y="3123610"/>
            <a:ext cx="1299413" cy="26054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B94AA754-0592-0023-00DE-1F70FC0318D6}"/>
              </a:ext>
            </a:extLst>
          </p:cNvPr>
          <p:cNvCxnSpPr/>
          <p:nvPr/>
        </p:nvCxnSpPr>
        <p:spPr>
          <a:xfrm flipV="1">
            <a:off x="2462784" y="1898584"/>
            <a:ext cx="5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AACB8814-5292-7B15-3D5A-4D3B78E1BC52}"/>
              </a:ext>
            </a:extLst>
          </p:cNvPr>
          <p:cNvCxnSpPr/>
          <p:nvPr/>
        </p:nvCxnSpPr>
        <p:spPr>
          <a:xfrm flipV="1">
            <a:off x="5565648" y="1898584"/>
            <a:ext cx="5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6FB7EE-652C-280B-3E56-693003962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91" y="1374715"/>
            <a:ext cx="5827818" cy="3205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7C1BE7-EFB8-A460-4C11-17EE24835196}"/>
              </a:ext>
            </a:extLst>
          </p:cNvPr>
          <p:cNvSpPr txBox="1"/>
          <p:nvPr/>
        </p:nvSpPr>
        <p:spPr>
          <a:xfrm>
            <a:off x="2311617" y="318377"/>
            <a:ext cx="4913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cs typeface="Arial" panose="020B0604020202020204" pitchFamily="34" charset="0"/>
              </a:rPr>
              <a:t>Интерфейс,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65393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4"/>
          <a:srcRect l="62" r="62"/>
          <a:stretch/>
        </p:blipFill>
        <p:spPr>
          <a:xfrm>
            <a:off x="7459915" y="102309"/>
            <a:ext cx="1673817" cy="48509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82719" y="396106"/>
            <a:ext cx="458003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ea typeface="Mona Sans Semi Bold" pitchFamily="34" charset="-122"/>
                <a:cs typeface="Arial" panose="020B0604020202020204" pitchFamily="34" charset="0"/>
              </a:rPr>
              <a:t>Ограничения: ошибка 403</a:t>
            </a:r>
            <a:endParaRPr lang="en-US" sz="2781" b="1" dirty="0"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0629" y="1386533"/>
            <a:ext cx="3657427" cy="186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Крупные сайты часто блокируют запросы, чтобы защититься от автоматического сбора данных.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79CA80FF-46B1-20BD-6638-4337A6BCF820}"/>
              </a:ext>
            </a:extLst>
          </p:cNvPr>
          <p:cNvGrpSpPr/>
          <p:nvPr/>
        </p:nvGrpSpPr>
        <p:grpSpPr>
          <a:xfrm>
            <a:off x="4672737" y="1344863"/>
            <a:ext cx="2392766" cy="1251645"/>
            <a:chOff x="3491359" y="1494605"/>
            <a:chExt cx="2392766" cy="1251645"/>
          </a:xfrm>
        </p:grpSpPr>
        <p:sp>
          <p:nvSpPr>
            <p:cNvPr id="5" name="Shape 2"/>
            <p:cNvSpPr/>
            <p:nvPr/>
          </p:nvSpPr>
          <p:spPr>
            <a:xfrm>
              <a:off x="3491359" y="1494605"/>
              <a:ext cx="2382499" cy="1251645"/>
            </a:xfrm>
            <a:prstGeom prst="roundRect">
              <a:avLst>
                <a:gd name="adj" fmla="val 5365"/>
              </a:avLst>
            </a:prstGeom>
            <a:solidFill>
              <a:srgbClr val="E2E4E9"/>
            </a:solidFill>
            <a:ln w="7620">
              <a:solidFill>
                <a:srgbClr val="C8CACF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Text 3"/>
            <p:cNvSpPr/>
            <p:nvPr/>
          </p:nvSpPr>
          <p:spPr>
            <a:xfrm>
              <a:off x="3648147" y="1689109"/>
              <a:ext cx="1439168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Работает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3648147" y="2110130"/>
              <a:ext cx="2235978" cy="5674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81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Небольшие сайты и открытые ресурсы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5C90A50-EAAE-BB2E-7DAB-367179BE80E3}"/>
              </a:ext>
            </a:extLst>
          </p:cNvPr>
          <p:cNvGrpSpPr/>
          <p:nvPr/>
        </p:nvGrpSpPr>
        <p:grpSpPr>
          <a:xfrm>
            <a:off x="4672736" y="3102278"/>
            <a:ext cx="2382499" cy="1267389"/>
            <a:chOff x="3491359" y="3102279"/>
            <a:chExt cx="2382499" cy="1267389"/>
          </a:xfrm>
        </p:grpSpPr>
        <p:sp>
          <p:nvSpPr>
            <p:cNvPr id="8" name="Shape 5"/>
            <p:cNvSpPr/>
            <p:nvPr/>
          </p:nvSpPr>
          <p:spPr>
            <a:xfrm>
              <a:off x="3491359" y="3102279"/>
              <a:ext cx="2382499" cy="1267389"/>
            </a:xfrm>
            <a:prstGeom prst="roundRect">
              <a:avLst>
                <a:gd name="adj" fmla="val 3821"/>
              </a:avLst>
            </a:prstGeom>
            <a:solidFill>
              <a:srgbClr val="E2E4E9"/>
            </a:solidFill>
            <a:ln w="7620">
              <a:solidFill>
                <a:srgbClr val="C8CACF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 6"/>
            <p:cNvSpPr/>
            <p:nvPr/>
          </p:nvSpPr>
          <p:spPr>
            <a:xfrm>
              <a:off x="3637880" y="3255987"/>
              <a:ext cx="2235978" cy="4429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Может блокировать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3638236" y="3689225"/>
              <a:ext cx="2088744" cy="6804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81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Маркетплейсы, Википедия и крупные порталы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5350" y="386239"/>
            <a:ext cx="46132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Скорость: в 25 раз быстрее</a:t>
            </a:r>
            <a:endParaRPr lang="en-US" sz="2800" b="1" dirty="0"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07473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6"/>
              </a:lnSpc>
            </a:pPr>
            <a:r>
              <a:rPr lang="en-US" sz="3656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4 ч</a:t>
            </a:r>
            <a:endParaRPr lang="en-US" sz="3656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9638" y="27196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20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Вручную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9674" y="3026123"/>
            <a:ext cx="221625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4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Время на загрузку 1000 картинок вручную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72434" y="207473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6"/>
              </a:lnSpc>
            </a:pPr>
            <a:r>
              <a:rPr lang="ru-RU" sz="3656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7</a:t>
            </a:r>
            <a:r>
              <a:rPr lang="en-US" sz="3656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 мин</a:t>
            </a:r>
            <a:endParaRPr lang="en-US" sz="3656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85952" y="27196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20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Автоматически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1620" y="3026123"/>
            <a:ext cx="221625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4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Программа </a:t>
            </a:r>
            <a:r>
              <a:rPr lang="en-US" sz="1400" dirty="0" err="1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справляется</a:t>
            </a:r>
            <a:r>
              <a:rPr lang="en-US" sz="14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за</a:t>
            </a:r>
            <a:r>
              <a:rPr lang="en-US" sz="14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 5–10 </a:t>
            </a:r>
            <a:r>
              <a:rPr lang="en-US" sz="1400" dirty="0" err="1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минут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48747" y="207473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6"/>
              </a:lnSpc>
            </a:pPr>
            <a:r>
              <a:rPr lang="en-US" sz="3656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25x</a:t>
            </a:r>
            <a:endParaRPr lang="en-US" sz="3656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2267" y="27196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20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Ускорение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53565" y="3026123"/>
            <a:ext cx="23943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400" dirty="0">
                <a:solidFill>
                  <a:srgbClr val="52586B"/>
                </a:solidFill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Во столько раз программа быстрее ручного сбора</a:t>
            </a:r>
            <a:endParaRPr lang="en-US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2957" y="411732"/>
            <a:ext cx="48513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Кому подойдёт приложение?</a:t>
            </a:r>
          </a:p>
          <a:p>
            <a:pPr>
              <a:lnSpc>
                <a:spcPts val="3469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5883159-B258-10E2-319E-36065F397B6D}"/>
              </a:ext>
            </a:extLst>
          </p:cNvPr>
          <p:cNvGrpSpPr/>
          <p:nvPr/>
        </p:nvGrpSpPr>
        <p:grpSpPr>
          <a:xfrm>
            <a:off x="570935" y="1839307"/>
            <a:ext cx="1905000" cy="1802126"/>
            <a:chOff x="496119" y="2287042"/>
            <a:chExt cx="1905000" cy="1802126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119" y="2287042"/>
              <a:ext cx="838200" cy="517996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496119" y="2982218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Маркетологи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496119" y="3288729"/>
              <a:ext cx="1905000" cy="800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81"/>
                </a:lnSpc>
              </a:pPr>
              <a:r>
                <a:rPr lang="ru-RU" sz="12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С</a:t>
              </a:r>
              <a:r>
                <a:rPr lang="en-US" sz="12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бор визуальных материалов конкурентов для анализа</a:t>
              </a:r>
              <a:endParaRPr lang="en-US" sz="12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AE835A6-1D0E-5344-400E-26EE85EAC21B}"/>
              </a:ext>
            </a:extLst>
          </p:cNvPr>
          <p:cNvGrpSpPr/>
          <p:nvPr/>
        </p:nvGrpSpPr>
        <p:grpSpPr>
          <a:xfrm>
            <a:off x="2695069" y="1839307"/>
            <a:ext cx="1905074" cy="2137724"/>
            <a:chOff x="2578299" y="2287042"/>
            <a:chExt cx="1905074" cy="2137724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8299" y="2287042"/>
              <a:ext cx="838200" cy="517996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2578299" y="2982218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Дизайнеры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2578299" y="3288729"/>
              <a:ext cx="1905074" cy="11360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81"/>
                </a:lnSpc>
              </a:pPr>
              <a:r>
                <a:rPr lang="en-US" sz="12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Формирование библиотек референсов и визуального вдохновения</a:t>
              </a:r>
              <a:endParaRPr lang="en-US" sz="12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C84A66-FDE7-F2D2-1512-38DCCEBF7F3D}"/>
              </a:ext>
            </a:extLst>
          </p:cNvPr>
          <p:cNvGrpSpPr/>
          <p:nvPr/>
        </p:nvGrpSpPr>
        <p:grpSpPr>
          <a:xfrm>
            <a:off x="4762993" y="1839307"/>
            <a:ext cx="1905074" cy="2067982"/>
            <a:chOff x="4660553" y="2287042"/>
            <a:chExt cx="1905074" cy="2067982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0553" y="2287042"/>
              <a:ext cx="838200" cy="517996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4660553" y="2982218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Исследователи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7"/>
            <p:cNvSpPr/>
            <p:nvPr/>
          </p:nvSpPr>
          <p:spPr>
            <a:xfrm>
              <a:off x="4660553" y="3288729"/>
              <a:ext cx="1905074" cy="10662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81"/>
                </a:lnSpc>
              </a:pPr>
              <a:r>
                <a:rPr lang="en-US" sz="12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Сбор данных для научных проектов без ручного труда</a:t>
              </a:r>
              <a:endParaRPr lang="en-US" sz="12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D6D87EF-2568-F257-2513-1E39507D1088}"/>
              </a:ext>
            </a:extLst>
          </p:cNvPr>
          <p:cNvGrpSpPr/>
          <p:nvPr/>
        </p:nvGrpSpPr>
        <p:grpSpPr>
          <a:xfrm>
            <a:off x="6988805" y="1821591"/>
            <a:ext cx="1905074" cy="2137724"/>
            <a:chOff x="6742807" y="2287042"/>
            <a:chExt cx="1905074" cy="2137724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42807" y="2287042"/>
              <a:ext cx="838200" cy="517996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6742807" y="2982218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Разработчики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9"/>
            <p:cNvSpPr/>
            <p:nvPr/>
          </p:nvSpPr>
          <p:spPr>
            <a:xfrm>
              <a:off x="6742807" y="3288729"/>
              <a:ext cx="1905074" cy="11360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81"/>
                </a:lnSpc>
              </a:pPr>
              <a:r>
                <a:rPr lang="en-US" sz="12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Аудит ссылок и ресурсов сайта —  для технических задач</a:t>
              </a:r>
              <a:endParaRPr lang="en-US" sz="12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7789" y="440353"/>
            <a:ext cx="37467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Развитие приложения</a:t>
            </a:r>
            <a:endParaRPr lang="en-US" sz="2800" b="1" dirty="0"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490787"/>
            <a:ext cx="8151763" cy="1274639"/>
          </a:xfrm>
          <a:prstGeom prst="roundRect">
            <a:avLst>
              <a:gd name="adj" fmla="val 4671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00881" y="2495550"/>
            <a:ext cx="2714030" cy="1265114"/>
          </a:xfrm>
          <a:prstGeom prst="roundRect">
            <a:avLst>
              <a:gd name="adj" fmla="val 4706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193" y="2817986"/>
            <a:ext cx="22179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Рекурсивный обход сайта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14911" y="2495550"/>
            <a:ext cx="2714104" cy="126511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214911" y="2495550"/>
            <a:ext cx="19050" cy="1265114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606887" y="29951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Смена User-Agent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37731" y="2950889"/>
            <a:ext cx="354360" cy="35436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6284" y="3039443"/>
            <a:ext cx="177180" cy="1771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29016" y="2495550"/>
            <a:ext cx="2714104" cy="126511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5" name="Shape 12"/>
          <p:cNvSpPr/>
          <p:nvPr/>
        </p:nvSpPr>
        <p:spPr>
          <a:xfrm>
            <a:off x="5929015" y="2495550"/>
            <a:ext cx="19050" cy="1265114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6311466" y="30177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dirty="0">
                <a:latin typeface="Bahnschrift SemiBold SemiConden" panose="020B0502040204020203" pitchFamily="34" charset="0"/>
                <a:ea typeface="Mona Sans Semi Bold" pitchFamily="34" charset="-122"/>
                <a:cs typeface="Times New Roman" panose="02020603050405020304" pitchFamily="18" charset="0"/>
              </a:rPr>
              <a:t>Поддержка прокси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51835" y="2950889"/>
            <a:ext cx="354360" cy="35436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0388" y="3039443"/>
            <a:ext cx="177180" cy="1771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631BC50-C444-48A8-7750-788606BB6DAE}"/>
              </a:ext>
            </a:extLst>
          </p:cNvPr>
          <p:cNvSpPr txBox="1"/>
          <p:nvPr/>
        </p:nvSpPr>
        <p:spPr>
          <a:xfrm>
            <a:off x="518006" y="1339418"/>
            <a:ext cx="747018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SemiBold SemiConden" panose="020B0502040204020203" pitchFamily="34" charset="0"/>
                <a:ea typeface="Funnel Sans" pitchFamily="34" charset="-122"/>
                <a:cs typeface="Times New Roman" panose="02020603050405020304" pitchFamily="18" charset="0"/>
              </a:rPr>
              <a:t>У приложения есть потенциал для дальнейшего расширения возможностей и повышения гибкости.</a:t>
            </a:r>
            <a:endParaRPr lang="en-US" sz="20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58182" y="341835"/>
            <a:ext cx="3544639" cy="44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800" b="1" dirty="0">
                <a:ea typeface="Mona Sans Semi Bold" pitchFamily="34" charset="-122"/>
                <a:cs typeface="Arial" panose="020B0604020202020204" pitchFamily="34" charset="0"/>
              </a:rPr>
              <a:t>Итог: задача решена</a:t>
            </a:r>
            <a:endParaRPr lang="en-US" sz="2800" b="1" dirty="0">
              <a:cs typeface="Arial" panose="020B0604020202020204" pitchFamily="34" charset="0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E7CAA85-F65B-E372-093E-1C94927F4C5F}"/>
              </a:ext>
            </a:extLst>
          </p:cNvPr>
          <p:cNvGrpSpPr/>
          <p:nvPr/>
        </p:nvGrpSpPr>
        <p:grpSpPr>
          <a:xfrm>
            <a:off x="862412" y="1034057"/>
            <a:ext cx="7374101" cy="3707904"/>
            <a:chOff x="498648" y="1043583"/>
            <a:chExt cx="7374101" cy="3707904"/>
          </a:xfrm>
        </p:grpSpPr>
        <p:sp>
          <p:nvSpPr>
            <p:cNvPr id="4" name="Shape 1"/>
            <p:cNvSpPr/>
            <p:nvPr/>
          </p:nvSpPr>
          <p:spPr>
            <a:xfrm>
              <a:off x="498648" y="1043583"/>
              <a:ext cx="7374101" cy="3707904"/>
            </a:xfrm>
            <a:prstGeom prst="roundRect">
              <a:avLst>
                <a:gd name="adj" fmla="val 1598"/>
              </a:avLst>
            </a:prstGeom>
            <a:solidFill>
              <a:srgbClr val="EEEEEE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Text 3"/>
            <p:cNvSpPr/>
            <p:nvPr/>
          </p:nvSpPr>
          <p:spPr>
            <a:xfrm>
              <a:off x="639738" y="1259607"/>
              <a:ext cx="1763911" cy="2204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Работает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639738" y="1517898"/>
              <a:ext cx="4435524" cy="4503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Приложение стабильно собирает ссылки и изображения с сайтов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498649" y="2085529"/>
              <a:ext cx="4717703" cy="14400"/>
            </a:xfrm>
            <a:prstGeom prst="roundRect">
              <a:avLst>
                <a:gd name="adj" fmla="val 311118"/>
              </a:avLst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 7"/>
            <p:cNvSpPr/>
            <p:nvPr/>
          </p:nvSpPr>
          <p:spPr>
            <a:xfrm>
              <a:off x="627692" y="2274345"/>
              <a:ext cx="1763911" cy="2204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Удобный интерфейс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639738" y="2531269"/>
              <a:ext cx="4435524" cy="2251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Простое окно — никакой командной строки и настроек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498649" y="2897535"/>
              <a:ext cx="4717703" cy="19050"/>
            </a:xfrm>
            <a:prstGeom prst="roundRect">
              <a:avLst>
                <a:gd name="adj" fmla="val 311118"/>
              </a:avLst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Text 11"/>
            <p:cNvSpPr/>
            <p:nvPr/>
          </p:nvSpPr>
          <p:spPr>
            <a:xfrm>
              <a:off x="639738" y="3088262"/>
              <a:ext cx="1763911" cy="2204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Бесплатно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639738" y="3343275"/>
              <a:ext cx="4435524" cy="4503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Открытый код, без подписок и установки сторонних платных инструментов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4"/>
            <p:cNvSpPr/>
            <p:nvPr/>
          </p:nvSpPr>
          <p:spPr>
            <a:xfrm>
              <a:off x="498649" y="3934718"/>
              <a:ext cx="4717703" cy="19050"/>
            </a:xfrm>
            <a:prstGeom prst="roundRect">
              <a:avLst>
                <a:gd name="adj" fmla="val 311118"/>
              </a:avLst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Text 15"/>
            <p:cNvSpPr/>
            <p:nvPr/>
          </p:nvSpPr>
          <p:spPr>
            <a:xfrm>
              <a:off x="639738" y="4120665"/>
              <a:ext cx="1763911" cy="2204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19"/>
                </a:lnSpc>
              </a:pPr>
              <a:r>
                <a:rPr lang="en-US" sz="2000" dirty="0">
                  <a:latin typeface="Bahnschrift SemiBold SemiConden" panose="020B0502040204020203" pitchFamily="34" charset="0"/>
                  <a:ea typeface="Mona Sans Semi Bold" pitchFamily="34" charset="-122"/>
                  <a:cs typeface="Times New Roman" panose="02020603050405020304" pitchFamily="18" charset="0"/>
                </a:rPr>
                <a:t>В 25 раз быстрее</a:t>
              </a:r>
              <a:endParaRPr lang="en-US" sz="20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639738" y="4380458"/>
              <a:ext cx="4435524" cy="2251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50"/>
                </a:lnSpc>
              </a:pPr>
              <a:r>
                <a:rPr lang="en-US" sz="1400" dirty="0">
                  <a:latin typeface="Bahnschrift SemiBold SemiConden" panose="020B0502040204020203" pitchFamily="34" charset="0"/>
                  <a:ea typeface="Funnel Sans" pitchFamily="34" charset="-122"/>
                  <a:cs typeface="Times New Roman" panose="02020603050405020304" pitchFamily="18" charset="0"/>
                </a:rPr>
                <a:t>Автоматизация экономит часы ручного труда</a:t>
              </a:r>
              <a:endPara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rcRect t="644" b="1409"/>
          <a:stretch>
            <a:fillRect/>
          </a:stretch>
        </p:blipFill>
        <p:spPr>
          <a:xfrm>
            <a:off x="5595678" y="1052009"/>
            <a:ext cx="2618298" cy="3672000"/>
          </a:xfrm>
          <a:prstGeom prst="rect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6EC06-8540-3433-463A-AB10E907CF7F}"/>
              </a:ext>
            </a:extLst>
          </p:cNvPr>
          <p:cNvSpPr txBox="1"/>
          <p:nvPr/>
        </p:nvSpPr>
        <p:spPr>
          <a:xfrm>
            <a:off x="3183816" y="311659"/>
            <a:ext cx="5265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Проект на </a:t>
            </a:r>
            <a:r>
              <a:rPr lang="en-US" sz="2800" b="1" dirty="0"/>
              <a:t>GitHub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23941E-EB36-EAD5-DD33-BEE8B0EC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260" y="2093795"/>
            <a:ext cx="2738046" cy="27380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DBE8A1-4979-12D9-51F5-A9777AA938D6}"/>
              </a:ext>
            </a:extLst>
          </p:cNvPr>
          <p:cNvSpPr txBox="1"/>
          <p:nvPr/>
        </p:nvSpPr>
        <p:spPr>
          <a:xfrm>
            <a:off x="1422400" y="1302996"/>
            <a:ext cx="65621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SemiConden" panose="020B0502040204020203" pitchFamily="34" charset="0"/>
              </a:rPr>
              <a:t>Инструкция для тех, кто хочет запустить проект у себя – файл </a:t>
            </a:r>
            <a:r>
              <a:rPr lang="en-US" sz="1600" dirty="0">
                <a:latin typeface="Bahnschrift SemiBold SemiConden" panose="020B0502040204020203" pitchFamily="34" charset="0"/>
              </a:rPr>
              <a:t>README.md</a:t>
            </a:r>
            <a:endParaRPr lang="ru-RU" sz="1600" dirty="0">
              <a:latin typeface="Bahnschrift SemiBold SemiConden" panose="020B0502040204020203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2248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19429</TotalTime>
  <Words>424</Words>
  <Application>Microsoft Office PowerPoint</Application>
  <PresentationFormat>Экран (16:9)</PresentationFormat>
  <Paragraphs>92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 Light</vt:lpstr>
      <vt:lpstr>Calibri</vt:lpstr>
      <vt:lpstr>Arial</vt:lpstr>
      <vt:lpstr>Bahnschrift SemiBold SemiConden</vt:lpstr>
      <vt:lpstr>Mona Sans Semi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Евгений</dc:creator>
  <cp:lastModifiedBy>goddess_q@mail.ru</cp:lastModifiedBy>
  <cp:revision>10</cp:revision>
  <dcterms:created xsi:type="dcterms:W3CDTF">2026-04-09T08:24:57Z</dcterms:created>
  <dcterms:modified xsi:type="dcterms:W3CDTF">2026-04-22T21:31:39Z</dcterms:modified>
</cp:coreProperties>
</file>